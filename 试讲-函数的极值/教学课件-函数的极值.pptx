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18120" y="0"/>
            <a:ext cx="4389120" cy="6858000"/>
          </a:xfrm>
          <a:prstGeom prst="rect">
            <a:avLst/>
          </a:prstGeom>
          <a:solidFill>
            <a:srgbClr val="2744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81328"/>
            <a:ext cx="822960" cy="6400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5D2E8"/>
                </a:solidFill>
                <a:latin typeface="Times New Roman"/>
                <a:ea typeface="微软雅黑"/>
              </a:rPr>
              <a:t>北师大版（2019）选择性必修第二册　第二章 导数及其应用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Times New Roman"/>
                <a:ea typeface="微软雅黑"/>
              </a:rPr>
              <a:t>函数的极值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5D2E8"/>
                </a:solidFill>
                <a:latin typeface="Times New Roman"/>
                <a:ea typeface="微软雅黑"/>
              </a:rPr>
              <a:t>§6.2　函数的极值　（第 1 课时）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60520"/>
            <a:ext cx="4754880" cy="10972"/>
          </a:xfrm>
          <a:prstGeom prst="rect">
            <a:avLst/>
          </a:prstGeom>
          <a:solidFill>
            <a:srgbClr val="4A63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C6DE"/>
                </a:solidFill>
                <a:latin typeface="Times New Roman"/>
                <a:ea typeface="微软雅黑"/>
              </a:rPr>
              <a:t>授课人：　　　　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C6DE"/>
                </a:solidFill>
                <a:latin typeface="Times New Roman"/>
                <a:ea typeface="微软雅黑"/>
              </a:rPr>
              <a:t>学　校：　　　　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34747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E87722"/>
                </a:solidFill>
                <a:latin typeface="Times New Roman"/>
                <a:ea typeface="微软雅黑"/>
              </a:rPr>
              <a:t>f′(x)</a:t>
            </a:r>
          </a:p>
          <a:p>
            <a:pPr algn="ctr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0">
                <a:solidFill>
                  <a:srgbClr val="C5D2E8"/>
                </a:solidFill>
                <a:latin typeface="Times New Roman"/>
                <a:ea typeface="微软雅黑"/>
              </a:rPr>
              <a:t>极值</a:t>
            </a:r>
          </a:p>
        </p:txBody>
      </p:sp>
      <p:sp>
        <p:nvSpPr>
          <p:cNvPr id="12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969264"/>
            <a:ext cx="566928" cy="5029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975664"/>
            <a:ext cx="10607040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第 1 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§6.2 函数的极值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10424160" cy="1170432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68680" y="1417320"/>
            <a:ext cx="73152" cy="1170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5636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Times New Roman"/>
                <a:ea typeface="微软雅黑"/>
              </a:rPr>
              <a:t>理解概念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636776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理解极大值、极小值与极值点的含义，能说明极值的“局部性”。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34640"/>
            <a:ext cx="10424160" cy="1170432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68680" y="2834640"/>
            <a:ext cx="73152" cy="1170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98094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Times New Roman"/>
                <a:ea typeface="微软雅黑"/>
              </a:rPr>
              <a:t>掌握方法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054096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掌握用导数判定极值的方法，能按规范步骤求函数的极值。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251960"/>
            <a:ext cx="10424160" cy="1170432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68680" y="4251960"/>
            <a:ext cx="73152" cy="117043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3982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Times New Roman"/>
                <a:ea typeface="微软雅黑"/>
              </a:rPr>
              <a:t>辨析关系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471416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辨析 f′(x₀)=0 与“x₀ 为极值点”的关系，能举反例说明。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380"/>
                </a:solidFill>
                <a:latin typeface="Times New Roman"/>
                <a:ea typeface="微软雅黑"/>
              </a:rPr>
              <a:t>重点：极值的概念与求极值的方法　　难点：“局部性”的理解与“两侧变号”的必要性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复习回顾：导数与单调性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969264"/>
            <a:ext cx="566928" cy="5029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975664"/>
            <a:ext cx="10607040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引入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§6.2 函数的极值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43000" y="15727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7722"/>
                </a:solidFill>
                <a:latin typeface="Times New Roman"/>
                <a:ea typeface="微软雅黑"/>
              </a:rPr>
              <a:t>已学结论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65960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B7380"/>
                </a:solidFill>
                <a:latin typeface="Times New Roman"/>
                <a:ea typeface="微软雅黑"/>
              </a:rPr>
              <a:t>在区间 (a, b) 内：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Times New Roman"/>
                <a:ea typeface="微软雅黑"/>
              </a:rPr>
              <a:t>f′(x) &gt; 0  ⟹  f(x) 单调递增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Times New Roman"/>
                <a:ea typeface="微软雅黑"/>
              </a:rPr>
              <a:t>f′(x) &lt; 0  ⟹  f(x) 单调递减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41732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12280" y="157276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7722"/>
                </a:solidFill>
                <a:latin typeface="Times New Roman"/>
                <a:ea typeface="微软雅黑"/>
              </a:rPr>
              <a:t>热身：f(x) = x³-3x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965960"/>
            <a:ext cx="4206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864"/>
                </a:solidFill>
                <a:latin typeface="Times New Roman"/>
                <a:ea typeface="微软雅黑"/>
              </a:rPr>
              <a:t>f′(x) = 3x² - 3 = 3(x+1)(x-1)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增区间：(-∞,-1)，(1,+∞)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减区间：(-1,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977639"/>
            <a:ext cx="10424160" cy="1417320"/>
          </a:xfrm>
          <a:prstGeom prst="roundRect">
            <a:avLst>
              <a:gd name="adj" fmla="val 4000"/>
            </a:avLst>
          </a:prstGeom>
          <a:solidFill>
            <a:srgbClr val="FDF3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3000" y="4160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7722"/>
                </a:solidFill>
                <a:latin typeface="Times New Roman"/>
                <a:ea typeface="微软雅黑"/>
              </a:rPr>
              <a:t>想一想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2628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333A45"/>
                </a:solidFill>
                <a:latin typeface="Times New Roman"/>
                <a:ea typeface="微软雅黑"/>
              </a:rPr>
              <a:t>函数在 x = -1 处由“增”转“减”，在 x = 1 处由“减”转“增”。这两个“转折点”附近的函数值，有什么特殊之处？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观察图象：寻找“增减转换点”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969264"/>
            <a:ext cx="566928" cy="5029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975664"/>
            <a:ext cx="10607040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引入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§6.2 函数的极值</a:t>
            </a:r>
          </a:p>
        </p:txBody>
      </p:sp>
      <p:pic>
        <p:nvPicPr>
          <p:cNvPr id="8" name="Picture 7" descr="fi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760720" cy="396049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417320"/>
            <a:ext cx="4572000" cy="123444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4032" y="1545336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7722"/>
                </a:solidFill>
                <a:latin typeface="Times New Roman"/>
                <a:ea typeface="微软雅黑"/>
              </a:rPr>
              <a:t>问题1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92024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求 f′(x)，说出 f(x) 的单调区间。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898648"/>
            <a:ext cx="4572000" cy="123444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14032" y="302666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7722"/>
                </a:solidFill>
                <a:latin typeface="Times New Roman"/>
                <a:ea typeface="微软雅黑"/>
              </a:rPr>
              <a:t>问题2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3401568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图象在 x = -1、x = 1 处发生了什么变化？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379976"/>
            <a:ext cx="4572000" cy="123444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14032" y="45079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7722"/>
                </a:solidFill>
                <a:latin typeface="Times New Roman"/>
                <a:ea typeface="微软雅黑"/>
              </a:rPr>
              <a:t>问题3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882896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这两个点附近的函数值，处于什么地位？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897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提示：用“附近”“局部”来描述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极大值与极小值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969264"/>
            <a:ext cx="566928" cy="5029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975664"/>
            <a:ext cx="10607040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§6.2 函数的极值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98448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333A45"/>
                </a:solidFill>
                <a:latin typeface="Times New Roman"/>
                <a:ea typeface="微软雅黑"/>
              </a:rPr>
              <a:t>设函数 y = f(x) 在点 x₀ 附近有定义：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28800"/>
            <a:ext cx="51206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5120640" cy="7315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011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87722"/>
                </a:solidFill>
                <a:latin typeface="Times New Roman"/>
                <a:ea typeface="微软雅黑"/>
              </a:rPr>
              <a:t>极大值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95728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若对 x₀ 附近的所有 x，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都有 f(x) &lt; f(x₀)，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则称 f(x₀) 为极大值，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x₀ 为极大值点。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28800"/>
            <a:ext cx="51206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120640" cy="73152"/>
          </a:xfrm>
          <a:prstGeom prst="rect">
            <a:avLst/>
          </a:prstGeom>
          <a:solidFill>
            <a:srgbClr val="2E53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5395"/>
                </a:solidFill>
                <a:latin typeface="Times New Roman"/>
                <a:ea typeface="微软雅黑"/>
              </a:rPr>
              <a:t>极小值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若对 x₀ 附近的所有 x，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都有 f(x) &gt; f(x₀)，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则称 f(x₀) 为极小值，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x₀ 为极小值点。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206240"/>
            <a:ext cx="10424160" cy="1051560"/>
          </a:xfrm>
          <a:prstGeom prst="roundRect">
            <a:avLst>
              <a:gd name="adj" fmla="val 4000"/>
            </a:avLst>
          </a:prstGeom>
          <a:solidFill>
            <a:srgbClr val="FDF3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43000" y="440740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864"/>
                </a:solidFill>
                <a:latin typeface="Times New Roman"/>
                <a:ea typeface="微软雅黑"/>
              </a:rPr>
              <a:t>极大值与极小值统称为极值；极大值点与极小值点统称为极值点。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380"/>
                </a:solidFill>
                <a:latin typeface="Times New Roman"/>
                <a:ea typeface="微软雅黑"/>
              </a:rPr>
              <a:t>本质：在 x₀ 的“附近”作比较 —— 极值刻画的是局部特征。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辨析三个关键词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969264"/>
            <a:ext cx="566928" cy="5029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975664"/>
            <a:ext cx="10607040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§6.2 函数的极值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331012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24712" y="16002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864"/>
                </a:solidFill>
                <a:latin typeface="Times New Roman"/>
                <a:ea typeface="微软雅黑"/>
              </a:rPr>
              <a:t>“附近”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148840"/>
            <a:ext cx="457200" cy="457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33172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A45"/>
                </a:solidFill>
                <a:latin typeface="Times New Roman"/>
                <a:ea typeface="微软雅黑"/>
              </a:rPr>
              <a:t>极值是局部性质，只与 x₀ 附近的函数值比较，不与整个定义域比较。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9136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7722"/>
                </a:solidFill>
                <a:latin typeface="Times New Roman"/>
                <a:ea typeface="微软雅黑"/>
              </a:rPr>
              <a:t>极大值 ≠ 最大值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417320"/>
            <a:ext cx="331012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54296" y="16002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864"/>
                </a:solidFill>
                <a:latin typeface="Times New Roman"/>
                <a:ea typeface="微软雅黑"/>
              </a:rPr>
              <a:t>极值点 / 极值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72583" y="2148840"/>
            <a:ext cx="457200" cy="457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233172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A45"/>
                </a:solidFill>
                <a:latin typeface="Times New Roman"/>
                <a:ea typeface="微软雅黑"/>
              </a:rPr>
              <a:t>极值点 x₀ 是自变量的取值；极值 f(x₀) 是函数值。二者不是同一个对象。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9136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7722"/>
                </a:solidFill>
                <a:latin typeface="Times New Roman"/>
                <a:ea typeface="微软雅黑"/>
              </a:rPr>
              <a:t>x₀  ↔  f(x₀)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7848" y="1417320"/>
            <a:ext cx="331012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83879" y="16002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864"/>
                </a:solidFill>
                <a:latin typeface="Times New Roman"/>
                <a:ea typeface="微软雅黑"/>
              </a:rPr>
              <a:t>内部点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8" y="2148840"/>
            <a:ext cx="457200" cy="457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33172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A45"/>
                </a:solidFill>
                <a:latin typeface="Times New Roman"/>
                <a:ea typeface="微软雅黑"/>
              </a:rPr>
              <a:t>极值点必须在定义域内部取得，区间端点处不谈极值。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9136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7722"/>
                </a:solidFill>
                <a:latin typeface="Times New Roman"/>
                <a:ea typeface="微软雅黑"/>
              </a:rPr>
              <a:t>端点不算极值点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864"/>
                </a:solidFill>
                <a:latin typeface="Times New Roman"/>
                <a:ea typeface="微软雅黑"/>
              </a:rPr>
              <a:t>追问：极大值一定是函数的最大值吗？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600" b="0">
                <a:solidFill>
                  <a:srgbClr val="6B7380"/>
                </a:solidFill>
                <a:latin typeface="Times New Roman"/>
                <a:ea typeface="微软雅黑"/>
              </a:rPr>
              <a:t>例：f(x)=x³-3x 的极大值 f(-1)=2，但当 x→+∞ 时 f(x)→+∞，函数没有最大值。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怎样判定极值？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969264"/>
            <a:ext cx="566928" cy="5029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975664"/>
            <a:ext cx="10607040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§6.2 函数的极值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98448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A45"/>
                </a:solidFill>
                <a:latin typeface="Times New Roman"/>
                <a:ea typeface="微软雅黑"/>
              </a:rPr>
              <a:t>前提：f(x) 在 x₀ 处可导，且 f′(x₀) = 0。观察 f′(x) 在 x₀ 两侧的符号：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10512"/>
            <a:ext cx="104241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68680" y="1810512"/>
            <a:ext cx="82296" cy="105156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066543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87722"/>
                </a:solidFill>
                <a:latin typeface="Times New Roman"/>
                <a:ea typeface="微软雅黑"/>
              </a:rPr>
              <a:t>左正右负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1031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x₀ 左侧 f′(x) &gt; 0，右侧 f′(x) &lt;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66543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87722"/>
                </a:solidFill>
                <a:latin typeface="Times New Roman"/>
                <a:ea typeface="微软雅黑"/>
              </a:rPr>
              <a:t>f(x₀) 为极大值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54096"/>
            <a:ext cx="104241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68680" y="3054096"/>
            <a:ext cx="82296" cy="1051560"/>
          </a:xfrm>
          <a:prstGeom prst="rect">
            <a:avLst/>
          </a:prstGeom>
          <a:solidFill>
            <a:srgbClr val="2E53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31012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5395"/>
                </a:solidFill>
                <a:latin typeface="Times New Roman"/>
                <a:ea typeface="微软雅黑"/>
              </a:rPr>
              <a:t>左负右正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346703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x₀ 左侧 f′(x) &lt; 0，右侧 f′(x) &gt;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3101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E5395"/>
                </a:solidFill>
                <a:latin typeface="Times New Roman"/>
                <a:ea typeface="微软雅黑"/>
              </a:rPr>
              <a:t>f(x₀) 为极小值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97680"/>
            <a:ext cx="104241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68680" y="4297680"/>
            <a:ext cx="82296" cy="105156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55371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B7380"/>
                </a:solidFill>
                <a:latin typeface="Times New Roman"/>
                <a:ea typeface="微软雅黑"/>
              </a:rPr>
              <a:t>两侧同号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59028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x₀ 两侧 f′(x) 符号相同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55371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B7380"/>
                </a:solidFill>
                <a:latin typeface="Times New Roman"/>
                <a:ea typeface="微软雅黑"/>
              </a:rPr>
              <a:t>f(x₀) 不是极值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486400"/>
            <a:ext cx="10424160" cy="621792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97280" y="55961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Times New Roman"/>
                <a:ea typeface="微软雅黑"/>
              </a:rPr>
              <a:t>口诀：左正右负取极大，左负右正取极小；符号不变，极值不现。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辨析：f′(x₀)=0 就一定是极值点吗？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969264"/>
            <a:ext cx="566928" cy="5029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975664"/>
            <a:ext cx="10607040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辨析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§6.2 函数的极值</a:t>
            </a:r>
          </a:p>
        </p:txBody>
      </p:sp>
      <p:pic>
        <p:nvPicPr>
          <p:cNvPr id="8" name="Picture 7" descr="fig_cou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4937760" cy="39502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41732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DF3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37960" y="15727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7722"/>
                </a:solidFill>
                <a:latin typeface="Times New Roman"/>
                <a:ea typeface="微软雅黑"/>
              </a:rPr>
              <a:t>反例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38528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864"/>
                </a:solidFill>
                <a:latin typeface="Times New Roman"/>
                <a:ea typeface="微软雅黑"/>
              </a:rPr>
              <a:t>f(x) = x³，f′(x) = 3x²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f′(0) = 0，但 f(x) 在 R 上单调递增，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所以 x = 0 不是极值点。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401568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37960" y="35661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  <a:ea typeface="微软雅黑"/>
              </a:rPr>
              <a:t>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9319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Times New Roman"/>
                <a:ea typeface="微软雅黑"/>
              </a:rPr>
              <a:t>f′(x₀)=0 是极值存在的必要条件，不是充分条件。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98348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380"/>
                </a:solidFill>
                <a:latin typeface="Times New Roman"/>
                <a:ea typeface="微软雅黑"/>
              </a:rPr>
              <a:t>因此，求极值时不能只令 f′(x)=0 就下结论，必须检验两侧的符号是否变号。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例1　求函数的极值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969264"/>
            <a:ext cx="566928" cy="5029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975664"/>
            <a:ext cx="10607040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例题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§6.2 函数的极值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298448"/>
            <a:ext cx="10424160" cy="77724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43000" y="1417320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微软雅黑"/>
              </a:rPr>
              <a:t>求函数 f(x) = x³ - 3x 的极值。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23160"/>
            <a:ext cx="1042416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7722"/>
                </a:solidFill>
                <a:latin typeface="Times New Roman"/>
                <a:ea typeface="微软雅黑"/>
              </a:rPr>
              <a:t>① 分析题意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24328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定义域为 R。求极值即找 f′(x)=0 的点，并判断其两侧 f′(x) 的符号。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657600"/>
            <a:ext cx="1042416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43000" y="3840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7722"/>
                </a:solidFill>
                <a:latin typeface="Times New Roman"/>
                <a:ea typeface="微软雅黑"/>
              </a:rPr>
              <a:t>② 拟定计划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858768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求导 → 解方程 f′(x)=0 → 列表分析符号 → 按判定写出极值。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380"/>
                </a:solidFill>
                <a:latin typeface="Times New Roman"/>
                <a:ea typeface="微软雅黑"/>
              </a:rPr>
              <a:t>提示：把 f′(x) 因式分解，符号由各因式决定 ——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Times New Roman"/>
                <a:ea typeface="微软雅黑"/>
              </a:rPr>
              <a:t>f′(x) = 3x² - 3 = 3(x + 1)(x - 1)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例1　实施计划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969264"/>
            <a:ext cx="566928" cy="5029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975664"/>
            <a:ext cx="10607040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例题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§6.2 函数的极值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801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3A45"/>
                </a:solidFill>
                <a:latin typeface="Times New Roman"/>
                <a:ea typeface="微软雅黑"/>
              </a:rPr>
              <a:t>f′(x) = 3x² - 3 = 3(x + 1)(x - 1)，令 f′(x) = 0，得 x₁ = -1，x₂ = 1。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1874519"/>
          <a:ext cx="964691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874519"/>
                <a:gridCol w="1325880"/>
                <a:gridCol w="1828800"/>
                <a:gridCol w="1325880"/>
                <a:gridCol w="1874519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x</a:t>
                      </a:r>
                    </a:p>
                  </a:txBody>
                  <a:tcPr anchor="ctr" marL="45720" marR="45720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(-∞, -1)</a:t>
                      </a:r>
                    </a:p>
                  </a:txBody>
                  <a:tcPr anchor="ctr" marL="45720" marR="45720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-1</a:t>
                      </a:r>
                    </a:p>
                  </a:txBody>
                  <a:tcPr anchor="ctr" marL="45720" marR="45720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(-1, 1)</a:t>
                      </a:r>
                    </a:p>
                  </a:txBody>
                  <a:tcPr anchor="ctr" marL="45720" marR="45720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1</a:t>
                      </a:r>
                    </a:p>
                  </a:txBody>
                  <a:tcPr anchor="ctr" marL="45720" marR="45720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(1, +∞)</a:t>
                      </a:r>
                    </a:p>
                  </a:txBody>
                  <a:tcPr anchor="ctr" marL="45720" marR="45720" marT="18288" marB="18288"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33A45"/>
                          </a:solidFill>
                          <a:latin typeface="Times New Roman"/>
                          <a:ea typeface="微软雅黑"/>
                        </a:rPr>
                        <a:t>f′(x)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3864"/>
                          </a:solidFill>
                          <a:latin typeface="Times New Roman"/>
                          <a:ea typeface="微软雅黑"/>
                        </a:rPr>
                        <a:t>+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E87722"/>
                          </a:solidFill>
                          <a:latin typeface="Times New Roman"/>
                          <a:ea typeface="微软雅黑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3864"/>
                          </a:solidFill>
                          <a:latin typeface="Times New Roman"/>
                          <a:ea typeface="微软雅黑"/>
                        </a:rPr>
                        <a:t>-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E87722"/>
                          </a:solidFill>
                          <a:latin typeface="Times New Roman"/>
                          <a:ea typeface="微软雅黑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3864"/>
                          </a:solidFill>
                          <a:latin typeface="Times New Roman"/>
                          <a:ea typeface="微软雅黑"/>
                        </a:rPr>
                        <a:t>+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33A45"/>
                          </a:solidFill>
                          <a:latin typeface="Times New Roman"/>
                          <a:ea typeface="微软雅黑"/>
                        </a:rPr>
                        <a:t>f(x)</a:t>
                      </a:r>
                    </a:p>
                  </a:txBody>
                  <a:tcPr anchor="ctr" marL="45720" marR="45720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3864"/>
                          </a:solidFill>
                          <a:latin typeface="Times New Roman"/>
                          <a:ea typeface="微软雅黑"/>
                        </a:rPr>
                        <a:t>↗</a:t>
                      </a:r>
                    </a:p>
                  </a:txBody>
                  <a:tcPr anchor="ctr" marL="45720" marR="45720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E87722"/>
                          </a:solidFill>
                          <a:latin typeface="Times New Roman"/>
                          <a:ea typeface="微软雅黑"/>
                        </a:rPr>
                        <a:t>极大值</a:t>
                      </a:r>
                    </a:p>
                  </a:txBody>
                  <a:tcPr anchor="ctr" marL="45720" marR="45720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3864"/>
                          </a:solidFill>
                          <a:latin typeface="Times New Roman"/>
                          <a:ea typeface="微软雅黑"/>
                        </a:rPr>
                        <a:t>↘</a:t>
                      </a:r>
                    </a:p>
                  </a:txBody>
                  <a:tcPr anchor="ctr" marL="45720" marR="45720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5395"/>
                          </a:solidFill>
                          <a:latin typeface="Times New Roman"/>
                          <a:ea typeface="微软雅黑"/>
                        </a:rPr>
                        <a:t>极小值</a:t>
                      </a:r>
                    </a:p>
                  </a:txBody>
                  <a:tcPr anchor="ctr" marL="45720" marR="45720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3864"/>
                          </a:solidFill>
                          <a:latin typeface="Times New Roman"/>
                          <a:ea typeface="微软雅黑"/>
                        </a:rPr>
                        <a:t>↗</a:t>
                      </a:r>
                    </a:p>
                  </a:txBody>
                  <a:tcPr anchor="ctr" marL="45720" marR="45720" marT="18288" marB="18288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8680" y="4187952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43434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7722"/>
                </a:solidFill>
                <a:latin typeface="Times New Roman"/>
                <a:ea typeface="微软雅黑"/>
              </a:rPr>
              <a:t>极大值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900" b="1">
                <a:solidFill>
                  <a:srgbClr val="333A45"/>
                </a:solidFill>
                <a:latin typeface="Times New Roman"/>
                <a:ea typeface="微软雅黑"/>
              </a:rPr>
              <a:t>f(-1) = (-1)³ - 3×(-1) =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187952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37960" y="43434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5395"/>
                </a:solidFill>
                <a:latin typeface="Times New Roman"/>
                <a:ea typeface="微软雅黑"/>
              </a:rPr>
              <a:t>极小值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900" b="1">
                <a:solidFill>
                  <a:srgbClr val="333A45"/>
                </a:solidFill>
                <a:latin typeface="Times New Roman"/>
                <a:ea typeface="微软雅黑"/>
              </a:rPr>
              <a:t>f(1) = 1³ - 3×1 = 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Times New Roman"/>
                <a:ea typeface="微软雅黑"/>
              </a:rPr>
              <a:t>∴ f(x) 的极大值为 2，极小值为 -2。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例1　回顾反思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969264"/>
            <a:ext cx="566928" cy="5029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975664"/>
            <a:ext cx="10607040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例题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§6.2 函数的极值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71600"/>
            <a:ext cx="1042416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68680" y="1371600"/>
            <a:ext cx="82296" cy="1234440"/>
          </a:xfrm>
          <a:prstGeom prst="rect">
            <a:avLst/>
          </a:prstGeom>
          <a:solidFill>
            <a:srgbClr val="2E53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517904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Times New Roman"/>
                <a:ea typeface="微软雅黑"/>
              </a:rPr>
              <a:t>极大值 2 是最大值吗？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9202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380"/>
                </a:solidFill>
                <a:latin typeface="Times New Roman"/>
                <a:ea typeface="微软雅黑"/>
              </a:rPr>
              <a:t>不是。x→+∞ 时 f(x)→+∞，函数无最大值 —— 极值只是“局部最大”。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34640"/>
            <a:ext cx="1042416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68680" y="2834640"/>
            <a:ext cx="82296" cy="1234440"/>
          </a:xfrm>
          <a:prstGeom prst="rect">
            <a:avLst/>
          </a:prstGeom>
          <a:solidFill>
            <a:srgbClr val="2E53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980944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Times New Roman"/>
                <a:ea typeface="微软雅黑"/>
              </a:rPr>
              <a:t>结果可信吗？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832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380"/>
                </a:solidFill>
                <a:latin typeface="Times New Roman"/>
                <a:ea typeface="微软雅黑"/>
              </a:rPr>
              <a:t>符号表显示“先增后减再增”，与图象形状完全一致，数形互相印证。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297680"/>
            <a:ext cx="1042416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68680" y="4297680"/>
            <a:ext cx="82296" cy="123444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443984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Times New Roman"/>
                <a:ea typeface="微软雅黑"/>
              </a:rPr>
              <a:t>能省略表格吗？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84632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380"/>
                </a:solidFill>
                <a:latin typeface="Times New Roman"/>
                <a:ea typeface="微软雅黑"/>
              </a:rPr>
              <a:t>不能。只令 f′(x)=0 就可能把 f(x)=x³ 中的 x=0 误判为极值点。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669280"/>
            <a:ext cx="10424160" cy="530352"/>
          </a:xfrm>
          <a:prstGeom prst="roundRect">
            <a:avLst>
              <a:gd name="adj" fmla="val 4000"/>
            </a:avLst>
          </a:prstGeom>
          <a:solidFill>
            <a:srgbClr val="FDF3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Times New Roman"/>
                <a:ea typeface="微软雅黑"/>
              </a:rPr>
              <a:t>求极值四步：分析题意 → 拟定计划 → 实施计划 → 回顾反思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课堂小结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969264"/>
            <a:ext cx="566928" cy="5029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975664"/>
            <a:ext cx="10607040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§6.2 函数的极值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233172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Times New Roman"/>
                <a:ea typeface="微软雅黑"/>
              </a:rPr>
              <a:t>图象特征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380"/>
                </a:solidFill>
                <a:latin typeface="Times New Roman"/>
                <a:ea typeface="微软雅黑"/>
              </a:rPr>
              <a:t>增减转换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380"/>
                </a:solidFill>
                <a:latin typeface="Times New Roman"/>
                <a:ea typeface="微软雅黑"/>
              </a:rPr>
              <a:t>转折点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9572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87722"/>
                </a:solidFill>
                <a:latin typeface="Times New Roman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1600200"/>
            <a:ext cx="233172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03320" y="178308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Times New Roman"/>
                <a:ea typeface="微软雅黑"/>
              </a:rPr>
              <a:t>极值概念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860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380"/>
                </a:solidFill>
                <a:latin typeface="Times New Roman"/>
                <a:ea typeface="微软雅黑"/>
              </a:rPr>
              <a:t>局部最大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380"/>
                </a:solidFill>
                <a:latin typeface="Times New Roman"/>
                <a:ea typeface="微软雅黑"/>
              </a:rPr>
              <a:t>局部最小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39572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87722"/>
                </a:solidFill>
                <a:latin typeface="Times New Roman"/>
                <a:ea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600200"/>
            <a:ext cx="233172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29400" y="178308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Times New Roman"/>
                <a:ea typeface="微软雅黑"/>
              </a:rPr>
              <a:t>判定方法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2860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380"/>
                </a:solidFill>
                <a:latin typeface="Times New Roman"/>
                <a:ea typeface="微软雅黑"/>
              </a:rPr>
              <a:t>f′(x₀)=0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380"/>
                </a:solidFill>
                <a:latin typeface="Times New Roman"/>
                <a:ea typeface="微软雅黑"/>
              </a:rPr>
              <a:t>且两侧变号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39572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87722"/>
                </a:solidFill>
                <a:latin typeface="Times New Roman"/>
                <a:ea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1600200"/>
            <a:ext cx="233172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772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55480" y="178308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Times New Roman"/>
                <a:ea typeface="微软雅黑"/>
              </a:rPr>
              <a:t>求极值四步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2860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380"/>
                </a:solidFill>
                <a:latin typeface="Times New Roman"/>
                <a:ea typeface="微软雅黑"/>
              </a:rPr>
              <a:t>求导·列表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380"/>
                </a:solidFill>
                <a:latin typeface="Times New Roman"/>
                <a:ea typeface="微软雅黑"/>
              </a:rPr>
              <a:t>判号·写值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977639"/>
            <a:ext cx="5120640" cy="1508760"/>
          </a:xfrm>
          <a:prstGeom prst="roundRect">
            <a:avLst>
              <a:gd name="adj" fmla="val 4000"/>
            </a:avLst>
          </a:prstGeom>
          <a:solidFill>
            <a:srgbClr val="FDF3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97280" y="4133087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7722"/>
                </a:solidFill>
                <a:latin typeface="Times New Roman"/>
                <a:ea typeface="微软雅黑"/>
              </a:rPr>
              <a:t>两个提醒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98848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① 极值是局部概念，不是最大值；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② f′(x₀)=0 未必是极值点。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977639"/>
            <a:ext cx="5029200" cy="150876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0" y="4133087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Times New Roman"/>
                <a:ea typeface="微软雅黑"/>
              </a:rPr>
              <a:t>研究方法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9884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由形到数、由特殊到一般、用反例检验结论的边界。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969264"/>
            <a:ext cx="566928" cy="5029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975664"/>
            <a:ext cx="10607040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0"/>
                </a:solidFill>
                <a:latin typeface="Times New Roman"/>
                <a:ea typeface="微软雅黑"/>
              </a:rPr>
              <a:t>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380"/>
                </a:solidFill>
                <a:latin typeface="Times New Roman"/>
                <a:ea typeface="微软雅黑"/>
              </a:rPr>
              <a:t>§6.2 函数的极值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08760"/>
            <a:ext cx="1042416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68680" y="1508760"/>
            <a:ext cx="82296" cy="1170432"/>
          </a:xfrm>
          <a:prstGeom prst="rect">
            <a:avLst/>
          </a:prstGeom>
          <a:solidFill>
            <a:srgbClr val="2E53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874519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Times New Roman"/>
                <a:ea typeface="微软雅黑"/>
              </a:rPr>
              <a:t>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783080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教材 §6.2 练习第 1、2 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926080"/>
            <a:ext cx="1042416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68680" y="2926080"/>
            <a:ext cx="82296" cy="1170432"/>
          </a:xfrm>
          <a:prstGeom prst="rect">
            <a:avLst/>
          </a:prstGeom>
          <a:solidFill>
            <a:srgbClr val="2E53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29184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Times New Roman"/>
                <a:ea typeface="微软雅黑"/>
              </a:rPr>
              <a:t>巩固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200400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求函数 f(x) = x³ - 3x² 的极值，仿照例1写出完整过程。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43400"/>
            <a:ext cx="1042416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68680" y="4343400"/>
            <a:ext cx="82296" cy="117043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70916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Times New Roman"/>
                <a:ea typeface="微软雅黑"/>
              </a:rPr>
              <a:t>拓展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617720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A45"/>
                </a:solidFill>
                <a:latin typeface="Times New Roman"/>
                <a:ea typeface="微软雅黑"/>
              </a:rPr>
              <a:t>思考：若 f′(x₀)=0，且在 x₀ 两侧 f′(x) 同号，函数图象在 x₀ 处有什么特点？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B7380"/>
                </a:solidFill>
                <a:latin typeface="Times New Roman"/>
                <a:ea typeface="微软雅黑"/>
              </a:rPr>
              <a:t>下节课：函数的最大（小）值 —— 从“局部”走向“整体”。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